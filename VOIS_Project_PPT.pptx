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.jfif" ContentType="image/jpe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19"/>
  </p:notesMasterIdLst>
  <p:handoutMasterIdLst>
    <p:handoutMasterId r:id="rId20"/>
  </p:handoutMasterIdLst>
  <p:sldIdLst>
    <p:sldId id="338" r:id="rId5"/>
    <p:sldId id="327" r:id="rId6"/>
    <p:sldId id="315" r:id="rId7"/>
    <p:sldId id="329" r:id="rId8"/>
    <p:sldId id="302" r:id="rId9"/>
    <p:sldId id="339" r:id="rId10"/>
    <p:sldId id="340" r:id="rId11"/>
    <p:sldId id="344" r:id="rId12"/>
    <p:sldId id="345" r:id="rId13"/>
    <p:sldId id="346" r:id="rId14"/>
    <p:sldId id="341" r:id="rId15"/>
    <p:sldId id="342" r:id="rId16"/>
    <p:sldId id="343" r:id="rId17"/>
    <p:sldId id="304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419AE38-882F-1515-E21D-2DA2765CE3A3}" v="2" dt="2026-09-02T10:33:37.143"/>
    <p1510:client id="{BA573E70-4CE7-E3DA-403D-1D1B358A6CED}" v="45" dt="2026-09-02T10:11:53.372"/>
  </p1510:revLst>
</p1510:revInfo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85" autoAdjust="0"/>
    <p:restoredTop sz="95033" autoAdjust="0"/>
  </p:normalViewPr>
  <p:slideViewPr>
    <p:cSldViewPr snapToGrid="0">
      <p:cViewPr varScale="1">
        <p:scale>
          <a:sx n="82" d="100"/>
          <a:sy n="82" d="100"/>
        </p:scale>
        <p:origin x="624" y="72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notesMaster" Target="notesMasters/notesMaster1.xml"/><Relationship Id="rId20" Type="http://schemas.openxmlformats.org/officeDocument/2006/relationships/handoutMaster" Target="handoutMasters/handout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9/2/2026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9/2/2026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9/2/2026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9/2/2026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9/2/2026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.jfi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2.png"/><Relationship Id="rId3" Type="http://schemas.openxmlformats.org/officeDocument/2006/relationships/image" Target="../media/image1.jf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Relationship Id="rId3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Relationship Id="rId3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1.jf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/>
          <p:cNvSpPr/>
          <p:nvPr/>
        </p:nvSpPr>
        <p:spPr>
          <a:xfrm>
            <a:off x="0" y="2286000"/>
            <a:ext cx="12192000" cy="201168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>
              <a:defRPr sz="2400" b="1">
                <a:solidFill>
                  <a:srgbClr val="FFFFFF"/>
                </a:solidFill>
              </a:defRPr>
            </a:pPr>
          </a:p>
        </p:txBody>
      </p:sp>
      <p:sp>
        <p:nvSpPr>
          <p:cNvPr id="39" name="TextBox 38"/>
          <p:cNvSpPr txBox="1"/>
          <p:nvPr/>
        </p:nvSpPr>
        <p:spPr>
          <a:xfrm>
            <a:off x="457200" y="731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63946"/>
                </a:solidFill>
              </a:defRPr>
            </a:pPr>
            <a:r>
              <a:t>Seasonal Agriculture Performance Analysis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55555"/>
                </a:solidFill>
              </a:defRPr>
            </a:pPr>
            <a:r>
              <a:t>VOIS For Tech / AICTE Data Analytics Internship</a:t>
            </a:r>
            <a:br/>
            <a:r>
              <a:t>Major Project — Batch 2026-2027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242316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Krishna Kumar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292608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</a:defRPr>
            </a:pPr>
            <a:r>
              <a:t>Ambalika Institute of Management and Technology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99999"/>
                </a:solidFill>
              </a:defRPr>
            </a:pPr>
            <a:r>
              <a:t>Data Analytics Internship — Seasonal Agriculture Performance Analysis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34290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AICTE STU ID: STU6a252b77248381780820855</a:t>
            </a:r>
          </a:p>
        </p:txBody>
      </p:sp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0" y="0"/>
            <a:ext cx="12192000" cy="73152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  Problem Statement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Agricultural performance is influenced by seasonal variations in environmental conditions, farming practices, and resource availability</a:t>
            </a:r>
          </a:p>
          <a:p>
            <a:pPr>
              <a:spcAft>
                <a:spcPts val="400"/>
              </a:spcAft>
              <a:defRPr sz="1400"/>
            </a:pPr>
            <a:r>
              <a:t>• Raw agricultural data does not clearly explain how performance changes across seasons</a:t>
            </a:r>
          </a:p>
          <a:p>
            <a:pPr>
              <a:spcAft>
                <a:spcPts val="400"/>
              </a:spcAft>
              <a:defRPr sz="1400"/>
            </a:pPr>
            <a:r>
              <a:t>• Need to analyze 4,000 farm records to identify meaningful seasonal patterns and trends</a:t>
            </a:r>
          </a:p>
          <a:p>
            <a:pPr>
              <a:spcAft>
                <a:spcPts val="400"/>
              </a:spcAft>
              <a:defRPr sz="1400"/>
            </a:pPr>
            <a:r>
              <a:t>• Investigate relationships between environmental conditions and agricultural outcomes</a:t>
            </a:r>
          </a:p>
          <a:p>
            <a:pPr>
              <a:spcAft>
                <a:spcPts val="400"/>
              </a:spcAft>
              <a:defRPr sz="1400"/>
            </a:pPr>
            <a:r>
              <a:t>• Compare performance across seasons, crops, and irrigation methods</a:t>
            </a:r>
          </a:p>
          <a:p>
            <a:pPr>
              <a:spcAft>
                <a:spcPts val="400"/>
              </a:spcAft>
              <a:defRPr sz="1400"/>
            </a:pPr>
            <a:r>
              <a:t>• Generate evidence-based findings and practical 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73152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  Project Description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097280"/>
            <a:ext cx="8229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/>
            </a:pPr>
            <a:r>
              <a:t>Scope:</a:t>
            </a:r>
          </a:p>
          <a:p>
            <a:pPr>
              <a:spcAft>
                <a:spcPts val="400"/>
              </a:spcAft>
              <a:defRPr sz="1300"/>
            </a:pPr>
            <a:r>
              <a:t>• Analysis of 4,000 agricultural records across 3 seasons (Kharif, Rabi, Zaid)</a:t>
            </a:r>
          </a:p>
          <a:p>
            <a:pPr>
              <a:spcAft>
                <a:spcPts val="400"/>
              </a:spcAft>
              <a:defRPr sz="1300"/>
            </a:pPr>
            <a:r>
              <a:t>• 8 crops, 8 states, 10 districts, 4 irrigation methods</a:t>
            </a:r>
          </a:p>
          <a:p>
            <a:pPr>
              <a:spcAft>
                <a:spcPts val="400"/>
              </a:spcAft>
              <a:defRPr sz="1300"/>
            </a:pPr>
            <a:r>
              <a:t>• 28 variables covering environment, farming, economics, and risk</a:t>
            </a:r>
          </a:p>
          <a:p>
            <a:pPr>
              <a:spcAft>
                <a:spcPts val="400"/>
              </a:spcAft>
              <a:defRPr sz="1300"/>
            </a:pPr>
          </a:p>
          <a:p>
            <a:pPr>
              <a:spcAft>
                <a:spcPts val="400"/>
              </a:spcAft>
              <a:defRPr sz="1300"/>
            </a:pPr>
            <a:r>
              <a:t>Approach:</a:t>
            </a:r>
          </a:p>
          <a:p>
            <a:pPr>
              <a:spcAft>
                <a:spcPts val="400"/>
              </a:spcAft>
              <a:defRPr sz="1300"/>
            </a:pPr>
            <a:r>
              <a:t>• Data Understanding → Data Cleaning → Exploratory Analysis</a:t>
            </a:r>
          </a:p>
          <a:p>
            <a:pPr>
              <a:spcAft>
                <a:spcPts val="400"/>
              </a:spcAft>
              <a:defRPr sz="1300"/>
            </a:pPr>
            <a:r>
              <a:t>• Season-wise, Crop-wise, Environmental, and Irrigation analysis</a:t>
            </a:r>
          </a:p>
          <a:p>
            <a:pPr>
              <a:spcAft>
                <a:spcPts val="400"/>
              </a:spcAft>
              <a:defRPr sz="1300"/>
            </a:pPr>
            <a:r>
              <a:t>• Statistical analysis and correlation study</a:t>
            </a:r>
          </a:p>
          <a:p>
            <a:pPr>
              <a:spcAft>
                <a:spcPts val="400"/>
              </a:spcAft>
              <a:defRPr sz="1300"/>
            </a:pPr>
            <a:r>
              <a:t>• 12 visualizations covering all key dimensions</a:t>
            </a:r>
          </a:p>
          <a:p>
            <a:pPr>
              <a:spcAft>
                <a:spcPts val="400"/>
              </a:spcAft>
              <a:defRPr sz="1300"/>
            </a:pPr>
            <a:r>
              <a:t>• Evidence-based findings and 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0" y="0"/>
            <a:ext cx="12192000" cy="73152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  End Users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097280"/>
            <a:ext cx="8229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👨‍🌾  Farmers — Seasonal crop planning and resource optimization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🏛️  Agricultural Planners — Evidence-based policy and planning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📊  Data Analysts — Analytical framework for agricultural data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🔬  Researchers — Patterns and trends for further study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💧  Irrigation Departments — Water usage and efficiency insights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🎓  Students — Learning data analytics on a real-world dataset</a:t>
            </a:r>
          </a:p>
        </p:txBody>
      </p:sp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0" y="0"/>
            <a:ext cx="12192000" cy="73152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  Technology Used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097280"/>
            <a:ext cx="8229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/>
            </a:pPr>
            <a:r>
              <a:t>Programming Language:</a:t>
            </a:r>
          </a:p>
          <a:p>
            <a:pPr>
              <a:spcAft>
                <a:spcPts val="400"/>
              </a:spcAft>
              <a:defRPr sz="1300"/>
            </a:pPr>
            <a:r>
              <a:t>  • Python 3</a:t>
            </a:r>
          </a:p>
          <a:p>
            <a:pPr>
              <a:spcAft>
                <a:spcPts val="400"/>
              </a:spcAft>
              <a:defRPr sz="1300"/>
            </a:pPr>
          </a:p>
          <a:p>
            <a:pPr>
              <a:spcAft>
                <a:spcPts val="400"/>
              </a:spcAft>
              <a:defRPr sz="1300"/>
            </a:pPr>
            <a:r>
              <a:t>Libraries:</a:t>
            </a:r>
          </a:p>
          <a:p>
            <a:pPr>
              <a:spcAft>
                <a:spcPts val="400"/>
              </a:spcAft>
              <a:defRPr sz="1300"/>
            </a:pPr>
            <a:r>
              <a:t>  • Pandas — Data manipulation and analysis</a:t>
            </a:r>
          </a:p>
          <a:p>
            <a:pPr>
              <a:spcAft>
                <a:spcPts val="400"/>
              </a:spcAft>
              <a:defRPr sz="1300"/>
            </a:pPr>
            <a:r>
              <a:t>  • NumPy — Numerical computing</a:t>
            </a:r>
          </a:p>
          <a:p>
            <a:pPr>
              <a:spcAft>
                <a:spcPts val="400"/>
              </a:spcAft>
              <a:defRPr sz="1300"/>
            </a:pPr>
            <a:r>
              <a:t>  • Matplotlib — Data visualization</a:t>
            </a:r>
          </a:p>
          <a:p>
            <a:pPr>
              <a:spcAft>
                <a:spcPts val="400"/>
              </a:spcAft>
              <a:defRPr sz="1300"/>
            </a:pPr>
            <a:r>
              <a:t>  • Seaborn — Statistical visualization</a:t>
            </a:r>
          </a:p>
          <a:p>
            <a:pPr>
              <a:spcAft>
                <a:spcPts val="400"/>
              </a:spcAft>
              <a:defRPr sz="1300"/>
            </a:pPr>
          </a:p>
          <a:p>
            <a:pPr>
              <a:spcAft>
                <a:spcPts val="400"/>
              </a:spcAft>
              <a:defRPr sz="1300"/>
            </a:pPr>
            <a:r>
              <a:t>Development Environment:</a:t>
            </a:r>
          </a:p>
          <a:p>
            <a:pPr>
              <a:spcAft>
                <a:spcPts val="400"/>
              </a:spcAft>
              <a:defRPr sz="1300"/>
            </a:pPr>
            <a:r>
              <a:t>  • Jupyter Notebook</a:t>
            </a:r>
          </a:p>
          <a:p>
            <a:pPr>
              <a:spcAft>
                <a:spcPts val="400"/>
              </a:spcAft>
              <a:defRPr sz="1300"/>
            </a:pPr>
          </a:p>
          <a:p>
            <a:pPr>
              <a:spcAft>
                <a:spcPts val="400"/>
              </a:spcAft>
              <a:defRPr sz="1300"/>
            </a:pPr>
            <a:r>
              <a:t>Data Format:</a:t>
            </a:r>
          </a:p>
          <a:p>
            <a:pPr>
              <a:spcAft>
                <a:spcPts val="400"/>
              </a:spcAft>
              <a:defRPr sz="1300"/>
            </a:pPr>
            <a:r>
              <a:t>  • CSV (4,000 records × 28 columns)</a:t>
            </a:r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/>
          <p:cNvSpPr/>
          <p:nvPr/>
        </p:nvSpPr>
        <p:spPr>
          <a:xfrm>
            <a:off x="0" y="0"/>
            <a:ext cx="12192000" cy="73152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  Results — Season-wise Performance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914400"/>
            <a:ext cx="8412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/>
            </a:pPr>
            <a:r>
              <a:t>Average Yield (t/ha):    Kharif: 5.64  |  Rabi: 5.08  |  Zaid: 4.67</a:t>
            </a:r>
            <a:br/>
            <a:br/>
            <a:r>
              <a:t>Average Profit (₹):      Kharif: ₹178,915  |  Rabi: ₹87,689  |  Zaid: ₹-24,805</a:t>
            </a:r>
            <a:br/>
            <a:br/>
            <a:r>
              <a:t>Profitable Farms:        Kharif: 57.8%  |  Rabi: 48.9%  |  Zaid: 35.5%</a:t>
            </a:r>
            <a:br/>
            <a:br/>
            <a:r>
              <a:t>Avg Rainfall (mm):       Kharif: 852  |  Rabi: 436  |  Zaid: 299</a:t>
            </a:r>
          </a:p>
        </p:txBody>
      </p:sp>
      <p:pic>
        <p:nvPicPr>
          <p:cNvPr id="33" name="Picture 32" descr="01_avg_yield_by_sea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743200"/>
            <a:ext cx="5029200" cy="3104761"/>
          </a:xfrm>
          <a:prstGeom prst="rect">
            <a:avLst/>
          </a:prstGeom>
        </p:spPr>
      </p:pic>
      <p:pic>
        <p:nvPicPr>
          <p:cNvPr id="34" name="Picture 33" descr="02_avg_profit_by_sea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2743200"/>
            <a:ext cx="5029200" cy="3099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AAE43-B138-25CD-D01F-41DB38855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/>
          <p:cNvSpPr/>
          <p:nvPr/>
        </p:nvSpPr>
        <p:spPr>
          <a:xfrm>
            <a:off x="0" y="0"/>
            <a:ext cx="12192000" cy="73152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  Results — Production &amp; Crop Analysis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914400"/>
            <a:ext cx="8412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/>
            </a:pPr>
            <a:r>
              <a:t>Total Production:  Kharif: 82,388 t  |  Rabi: 67,499 t  |  Zaid: 23,098 t</a:t>
            </a:r>
            <a:br/>
            <a:br/>
            <a:r>
              <a:t>Top Crops by Yield:  Sugarcane (46.94 t/ha), Maize (2.72), Rice (2.44)</a:t>
            </a:r>
            <a:br/>
            <a:r>
              <a:t>Top Crops by Profit:  Sugarcane (₹817,188), Chilli (₹750,878)</a:t>
            </a:r>
          </a:p>
        </p:txBody>
      </p:sp>
      <p:pic>
        <p:nvPicPr>
          <p:cNvPr id="33" name="Picture 32" descr="03_total_production_by_sea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468880"/>
            <a:ext cx="5029200" cy="3099490"/>
          </a:xfrm>
          <a:prstGeom prst="rect">
            <a:avLst/>
          </a:prstGeom>
        </p:spPr>
      </p:pic>
      <p:pic>
        <p:nvPicPr>
          <p:cNvPr id="34" name="Picture 33" descr="09_crop_wise_avg_y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2468880"/>
            <a:ext cx="5029200" cy="2992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9627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9E943-C59C-1D86-29CA-F786C47BA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/>
          <p:cNvSpPr/>
          <p:nvPr/>
        </p:nvSpPr>
        <p:spPr>
          <a:xfrm>
            <a:off x="0" y="0"/>
            <a:ext cx="12192000" cy="73152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  Results — Environmental Analysis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914400"/>
            <a:ext cx="8412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/>
            </a:pPr>
            <a:r>
              <a:t>Avg Temperature:  Kharif: 28.5°C  |  Rabi: 23.5°C  |  Zaid: 31.0°C</a:t>
            </a:r>
            <a:br/>
            <a:br/>
            <a:r>
              <a:t>Disease Risk:  Kharif: 54.5%  |  Rabi: 40.5%  |  Zaid: 38.2%</a:t>
            </a:r>
            <a:br/>
            <a:br/>
            <a:r>
              <a:t>Rainfall–Disease Correlation: r = 0.625 (moderate positive association)</a:t>
            </a:r>
          </a:p>
        </p:txBody>
      </p:sp>
      <p:pic>
        <p:nvPicPr>
          <p:cNvPr id="33" name="Picture 32" descr="04_rainfall_vs_y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468880"/>
            <a:ext cx="5029200" cy="2982789"/>
          </a:xfrm>
          <a:prstGeom prst="rect">
            <a:avLst/>
          </a:prstGeom>
        </p:spPr>
      </p:pic>
      <p:pic>
        <p:nvPicPr>
          <p:cNvPr id="34" name="Picture 33" descr="08_disease_risk_by_sea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2468880"/>
            <a:ext cx="5029200" cy="3102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901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5AC1B-54F8-474D-6B86-CF23FDF34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/>
          <p:cNvSpPr/>
          <p:nvPr/>
        </p:nvSpPr>
        <p:spPr>
          <a:xfrm>
            <a:off x="0" y="0"/>
            <a:ext cx="12192000" cy="73152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  Results — Irrigation &amp; Water Analysis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914400"/>
            <a:ext cx="8412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/>
            </a:pPr>
            <a:r>
              <a:t>Yield by Method:  Drip: 6.62  |  Flood: 4.9  |  Rainfed: 4.61  |  Sprinkler: 5.19 t/ha</a:t>
            </a:r>
            <a:br/>
            <a:br/>
            <a:r>
              <a:t>Water Efficiency:  Drip: 6.27  |  Flood: 3.44  |  Rainfed: 7.56  |  Sprinkler: 4.67 t/1000m³</a:t>
            </a:r>
            <a:br/>
            <a:br/>
            <a:r>
              <a:t>Water Usage:  Kharif: 6,102 m³  |  Rabi: 5,847 m³  |  Zaid: 6,420 m³</a:t>
            </a:r>
          </a:p>
        </p:txBody>
      </p:sp>
      <p:pic>
        <p:nvPicPr>
          <p:cNvPr id="33" name="Picture 32" descr="10_irrigation_vs_y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468880"/>
            <a:ext cx="5029200" cy="3104761"/>
          </a:xfrm>
          <a:prstGeom prst="rect">
            <a:avLst/>
          </a:prstGeom>
        </p:spPr>
      </p:pic>
      <p:pic>
        <p:nvPicPr>
          <p:cNvPr id="34" name="Picture 33" descr="11_irrigation_vs_water_efficien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2468880"/>
            <a:ext cx="5029200" cy="3104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979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30C45-6A74-29AD-A5C0-D5F36592D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/>
          <p:cNvSpPr/>
          <p:nvPr/>
        </p:nvSpPr>
        <p:spPr>
          <a:xfrm>
            <a:off x="0" y="0"/>
            <a:ext cx="12192000" cy="73152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  Results — Correlations &amp; Key Findings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91440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/>
            </a:pPr>
            <a:r>
              <a:t>Key Findings:</a:t>
            </a:r>
          </a:p>
          <a:p>
            <a:pPr>
              <a:spcAft>
                <a:spcPts val="400"/>
              </a:spcAft>
              <a:defRPr sz="1100"/>
            </a:pPr>
            <a:r>
              <a:t>• Kharif: Highest yield (5.64 t/ha), profit (₹1,78,915), but also highest disease risk (54.5%)</a:t>
            </a:r>
          </a:p>
          <a:p>
            <a:pPr>
              <a:spcAft>
                <a:spcPts val="400"/>
              </a:spcAft>
              <a:defRPr sz="1100"/>
            </a:pPr>
            <a:r>
              <a:t>• Zaid: Lowest yield (4.67 t/ha), negative avg profit — only 35.5% farms profitable</a:t>
            </a:r>
          </a:p>
          <a:p>
            <a:pPr>
              <a:spcAft>
                <a:spcPts val="400"/>
              </a:spcAft>
              <a:defRPr sz="1100"/>
            </a:pPr>
            <a:r>
              <a:t>• Sugarcane &amp; Chilli are the most profitable crops in the dataset</a:t>
            </a:r>
          </a:p>
          <a:p>
            <a:pPr>
              <a:spcAft>
                <a:spcPts val="400"/>
              </a:spcAft>
              <a:defRPr sz="1100"/>
            </a:pPr>
            <a:r>
              <a:t>• Drip irrigation associated with highest yield; Rainfed with highest water efficiency</a:t>
            </a:r>
          </a:p>
          <a:p>
            <a:pPr>
              <a:spcAft>
                <a:spcPts val="400"/>
              </a:spcAft>
              <a:defRPr sz="1100"/>
            </a:pPr>
            <a:r>
              <a:t>• Rainfall shows moderate positive association with disease risk (r = 0.625)</a:t>
            </a:r>
          </a:p>
          <a:p>
            <a:pPr>
              <a:spcAft>
                <a:spcPts val="400"/>
              </a:spcAft>
              <a:defRPr sz="1100"/>
            </a:pPr>
            <a:r>
              <a:t>• Environmental factors show weak direct correlation with yield individually</a:t>
            </a:r>
          </a:p>
        </p:txBody>
      </p:sp>
      <p:pic>
        <p:nvPicPr>
          <p:cNvPr id="33" name="Picture 32" descr="12_correlation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005840"/>
            <a:ext cx="5303520" cy="4896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522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E94ED-1743-306E-1CA1-9410A2B50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0" y="0"/>
            <a:ext cx="12192000" cy="73152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  Future 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Predictive modeling — Use machine learning to forecast seasonal yields</a:t>
            </a:r>
          </a:p>
          <a:p>
            <a:pPr>
              <a:spcAft>
                <a:spcPts val="400"/>
              </a:spcAft>
              <a:defRPr sz="1400"/>
            </a:pPr>
            <a:r>
              <a:t>• Time-series analysis — Track performance trends over multiple years</a:t>
            </a:r>
          </a:p>
          <a:p>
            <a:pPr>
              <a:spcAft>
                <a:spcPts val="400"/>
              </a:spcAft>
              <a:defRPr sz="1400"/>
            </a:pPr>
            <a:r>
              <a:t>• Regional deep-dive — State/district-level analysis for localized insights</a:t>
            </a:r>
          </a:p>
          <a:p>
            <a:pPr>
              <a:spcAft>
                <a:spcPts val="400"/>
              </a:spcAft>
              <a:defRPr sz="1400"/>
            </a:pPr>
            <a:r>
              <a:t>• Cost optimization — Detailed cost-benefit analysis per crop per season</a:t>
            </a:r>
          </a:p>
          <a:p>
            <a:pPr>
              <a:spcAft>
                <a:spcPts val="400"/>
              </a:spcAft>
              <a:defRPr sz="1400"/>
            </a:pPr>
            <a:r>
              <a:t>• Real-time dashboards — Interactive visualization tools for stakeholders</a:t>
            </a:r>
          </a:p>
          <a:p>
            <a:pPr>
              <a:spcAft>
                <a:spcPts val="400"/>
              </a:spcAft>
              <a:defRPr sz="1400"/>
            </a:pPr>
            <a:r>
              <a:t>• Weather integration — Combine with live weather data for dynamic planning</a:t>
            </a:r>
          </a:p>
          <a:p>
            <a:pPr>
              <a:spcAft>
                <a:spcPts val="400"/>
              </a:spcAft>
              <a:defRPr sz="1400"/>
            </a:pPr>
            <a:r>
              <a:t>• Crop recommendation system — Suggest optimal crops based on conditions</a:t>
            </a:r>
          </a:p>
        </p:txBody>
      </p:sp>
    </p:spTree>
    <p:extLst>
      <p:ext uri="{BB962C8B-B14F-4D97-AF65-F5344CB8AC3E}">
        <p14:creationId xmlns:p14="http://schemas.microsoft.com/office/powerpoint/2010/main" val="776828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316CE-193E-3D5D-C15A-98517303A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0" y="0"/>
            <a:ext cx="12192000" cy="73152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  GitHub Repository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22860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33333"/>
                </a:solidFill>
              </a:defRPr>
            </a:pPr>
            <a:r>
              <a:t>https://github.com/krishna3163/Seasonal-Agriculture-Performance-Analysis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320040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Repository Contents:</a:t>
            </a:r>
          </a:p>
          <a:p>
            <a:pPr>
              <a:defRPr sz="1400">
                <a:solidFill>
                  <a:srgbClr val="505050"/>
                </a:solidFill>
              </a:defRPr>
            </a:pPr>
            <a:r>
              <a:t>• Jupyter Notebook (.ipynb) with complete analysis</a:t>
            </a:r>
          </a:p>
          <a:p>
            <a:pPr>
              <a:defRPr sz="1400">
                <a:solidFill>
                  <a:srgbClr val="505050"/>
                </a:solidFill>
              </a:defRPr>
            </a:pPr>
            <a:r>
              <a:t>• Dataset (CSV) — 4,000 records × 28 features</a:t>
            </a:r>
          </a:p>
          <a:p>
            <a:pPr>
              <a:defRPr sz="1400">
                <a:solidFill>
                  <a:srgbClr val="505050"/>
                </a:solidFill>
              </a:defRPr>
            </a:pPr>
            <a:r>
              <a:t>• 12 High-Resolution Visualizations (charts/)</a:t>
            </a:r>
          </a:p>
          <a:p>
            <a:pPr>
              <a:defRPr sz="1400">
                <a:solidFill>
                  <a:srgbClr val="505050"/>
                </a:solidFill>
              </a:defRPr>
            </a:pPr>
            <a:r>
              <a:t>• Complete Documentation &amp; Verification Reports</a:t>
            </a:r>
          </a:p>
        </p:txBody>
      </p:sp>
    </p:spTree>
    <p:extLst>
      <p:ext uri="{BB962C8B-B14F-4D97-AF65-F5344CB8AC3E}">
        <p14:creationId xmlns:p14="http://schemas.microsoft.com/office/powerpoint/2010/main" val="3863610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66297-EA5A-44FA-6968-26D32B9B1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0" y="0"/>
            <a:ext cx="12192000" cy="73152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r>
              <a:t>  VOIS Course Completion Certificate — Data Visualization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82296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23232"/>
                </a:solidFill>
              </a:defRPr>
            </a:pPr>
            <a:r>
              <a:t>Course: Data Visualization  |  Certificate ID: VFLMS26_163451  |  Issued: September 6, 2026</a:t>
            </a:r>
          </a:p>
        </p:txBody>
      </p:sp>
      <p:pic>
        <p:nvPicPr>
          <p:cNvPr id="26" name="Picture 25" descr="certific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5845" y="1280160"/>
            <a:ext cx="7240308" cy="512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802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Box 45"/>
          <p:cNvSpPr txBox="1"/>
          <p:nvPr/>
        </p:nvSpPr>
        <p:spPr>
          <a:xfrm>
            <a:off x="457200" y="164592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63946"/>
                </a:solidFill>
              </a:defRPr>
            </a:pPr>
            <a:r>
              <a:t>Thank You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" y="29260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55555"/>
                </a:solidFill>
              </a:defRPr>
            </a:pPr>
            <a:r>
              <a:t>Seasonal Agriculture Performance Analysis</a:t>
            </a:r>
            <a:br/>
            <a:r>
              <a:t>VOIS For Tech / AICTE Data Analytics Internship</a:t>
            </a:r>
          </a:p>
        </p:txBody>
      </p:sp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556</TotalTime>
  <Words>71</Words>
  <Application>Microsoft Office PowerPoint</Application>
  <PresentationFormat>Widescreen</PresentationFormat>
  <Paragraphs>18</Paragraphs>
  <Slides>14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Facet</vt:lpstr>
      <vt:lpstr>Project Title -</vt:lpstr>
      <vt:lpstr>PROBLEM  STATEMENT</vt:lpstr>
      <vt:lpstr>Project Description [write detail description about your project ]  </vt:lpstr>
      <vt:lpstr>WHO ARE THE END USERS?</vt:lpstr>
      <vt:lpstr>Technology Used</vt:lpstr>
      <vt:lpstr>RESULTS </vt:lpstr>
      <vt:lpstr>RESULTS </vt:lpstr>
      <vt:lpstr>RESULTS </vt:lpstr>
      <vt:lpstr>RESULTS </vt:lpstr>
      <vt:lpstr>RESULTS </vt:lpstr>
      <vt:lpstr>Future scope</vt:lpstr>
      <vt:lpstr>GitHub Link</vt:lpstr>
      <vt:lpstr>VOIS Course completion certificate -  Course name- Data Visualization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Aswini Kumar Motapothula</cp:lastModifiedBy>
  <cp:revision>97</cp:revision>
  <dcterms:created xsi:type="dcterms:W3CDTF">2021-07-11T13:13:15Z</dcterms:created>
  <dcterms:modified xsi:type="dcterms:W3CDTF">2026-09-02T10:35:59Z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