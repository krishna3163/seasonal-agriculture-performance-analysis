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jfif" ContentType="image/jpe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notesMaster" Target="notesMasters/notesMaster1.xml"/><Relationship Id="rId20" Type="http://schemas.openxmlformats.org/officeDocument/2006/relationships/handoutMaster" Target="handoutMasters/handout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microsoft.com/office/2015/10/relationships/revisionInfo" Target="revisionInfo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9/2/2026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9/2/2026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jf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2.png"/><Relationship Id="rId3" Type="http://schemas.openxmlformats.org/officeDocument/2006/relationships/image" Target="../media/image1.jf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1.jf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/>
          <p:cNvSpPr/>
          <p:nvPr/>
        </p:nvSpPr>
        <p:spPr>
          <a:xfrm>
            <a:off x="0" y="0"/>
            <a:ext cx="12191999" cy="1371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77724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B365D"/>
                </a:solidFill>
                <a:latin typeface="Segoe UI"/>
              </a:defRPr>
            </a:pPr>
            <a:r>
              <a:t>Seasonal Agriculture Performance Analysis</a:t>
            </a:r>
          </a:p>
          <a:p>
            <a:pPr>
              <a:spcBef>
                <a:spcPts val="800"/>
              </a:spcBef>
              <a:defRPr sz="1600">
                <a:solidFill>
                  <a:srgbClr val="475569"/>
                </a:solidFill>
                <a:latin typeface="Segoe UI"/>
              </a:defRPr>
            </a:pPr>
            <a:r>
              <a:t>A Data-Driven Study of 4,000 Farm Records Across Kharif, Rabi, and Zaid Seasons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2560320"/>
            <a:ext cx="10362895" cy="29260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B365D"/>
                </a:solidFill>
                <a:latin typeface="Segoe UI"/>
              </a:defRPr>
            </a:pPr>
            <a:r>
              <a:t>VOIS FOR TECH / AICTE DATA ANALYTICS INTERNSHIP</a:t>
            </a:r>
          </a:p>
          <a:p>
            <a:pPr>
              <a:spcAft>
                <a:spcPts val="1400"/>
              </a:spcAft>
              <a:defRPr sz="1200">
                <a:solidFill>
                  <a:srgbClr val="475569"/>
                </a:solidFill>
                <a:latin typeface="Segoe UI"/>
              </a:defRPr>
            </a:pPr>
            <a:r>
              <a:t>Major Project Submission — August Batch 2026–2027</a:t>
            </a:r>
          </a:p>
          <a:p>
            <a:pPr>
              <a:defRPr sz="1600">
                <a:latin typeface="Segoe UI"/>
              </a:defRPr>
            </a:pPr>
            <a:r>
              <a:rPr b="1">
                <a:solidFill>
                  <a:srgbClr val="475569"/>
                </a:solidFill>
              </a:rPr>
              <a:t>Student Name:  </a:t>
            </a:r>
            <a:r>
              <a:rPr b="1">
                <a:solidFill>
                  <a:srgbClr val="1E293B"/>
                </a:solidFill>
              </a:rPr>
              <a:t>Krishna Kumar</a:t>
            </a:r>
          </a:p>
          <a:p>
            <a:pPr>
              <a:defRPr sz="1500">
                <a:latin typeface="Segoe UI"/>
              </a:defRPr>
            </a:pPr>
            <a:r>
              <a:rPr b="1">
                <a:solidFill>
                  <a:srgbClr val="475569"/>
                </a:solidFill>
              </a:rPr>
              <a:t>College Name:   </a:t>
            </a:r>
            <a:r>
              <a:rPr>
                <a:solidFill>
                  <a:srgbClr val="1E293B"/>
                </a:solidFill>
              </a:rPr>
              <a:t>Ambalika Institute of Management and Technology, Lucknow</a:t>
            </a:r>
          </a:p>
          <a:p>
            <a:pPr>
              <a:defRPr sz="1500">
                <a:latin typeface="Segoe UI"/>
              </a:defRPr>
            </a:pPr>
            <a:r>
              <a:rPr b="1">
                <a:solidFill>
                  <a:srgbClr val="475569"/>
                </a:solidFill>
              </a:rPr>
              <a:t>AICTE STU ID:   </a:t>
            </a:r>
            <a:r>
              <a:rPr b="1">
                <a:solidFill>
                  <a:srgbClr val="1B365D"/>
                </a:solidFill>
              </a:rPr>
              <a:t>STU6a252b77248381780820855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Domain: Data Analytics  |  Platform: VOIS LMS / Edunet Foundation  |  Submission Date: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0"/>
            <a:ext cx="12191999" cy="7315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   Problem Statement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1051560"/>
            <a:ext cx="5120640" cy="52120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200"/>
              </a:spcAft>
              <a:defRPr sz="1700" b="1">
                <a:solidFill>
                  <a:srgbClr val="1B365D"/>
                </a:solidFill>
                <a:latin typeface="Segoe UI"/>
              </a:defRPr>
            </a:pPr>
            <a:r>
              <a:t>Agricultural Context &amp; Challenges</a:t>
            </a:r>
          </a:p>
          <a:p>
            <a:pPr>
              <a:spcAft>
                <a:spcPts val="1200"/>
              </a:spcAft>
              <a:defRPr sz="1300">
                <a:latin typeface="Segoe UI"/>
              </a:defRPr>
            </a:pPr>
            <a:r>
              <a:rPr b="1">
                <a:solidFill>
                  <a:srgbClr val="1E293B"/>
                </a:solidFill>
              </a:rPr>
              <a:t>• Seasonal Environmental Disparity: </a:t>
            </a:r>
            <a:r>
              <a:rPr>
                <a:solidFill>
                  <a:srgbClr val="1E293B"/>
                </a:solidFill>
              </a:rPr>
              <a:t>Agricultural outcomes in India vary drastically across Kharif (Monsoon), Rabi (Winter), and Zaid (Summer) seasons due to marked differences in precipitation, temperature, and solar radiation.</a:t>
            </a:r>
          </a:p>
          <a:p>
            <a:pPr>
              <a:spcAft>
                <a:spcPts val="1200"/>
              </a:spcAft>
              <a:defRPr sz="1300">
                <a:latin typeface="Segoe UI"/>
              </a:defRPr>
            </a:pPr>
            <a:r>
              <a:rPr b="1">
                <a:solidFill>
                  <a:srgbClr val="1E293B"/>
                </a:solidFill>
              </a:rPr>
              <a:t>• Information Gaps in Raw Data: </a:t>
            </a:r>
            <a:r>
              <a:rPr>
                <a:solidFill>
                  <a:srgbClr val="1E293B"/>
                </a:solidFill>
              </a:rPr>
              <a:t>Unprocessed agricultural datasets contain individual farm metrics but fail to explicitly communicate seasonal patterns, performance bottlenecks, or comparative economic viability.</a:t>
            </a:r>
          </a:p>
          <a:p>
            <a:pPr>
              <a:spcAft>
                <a:spcPts val="1200"/>
              </a:spcAft>
              <a:defRPr sz="1300">
                <a:latin typeface="Segoe UI"/>
              </a:defRPr>
            </a:pPr>
            <a:r>
              <a:rPr b="1">
                <a:solidFill>
                  <a:srgbClr val="1E293B"/>
                </a:solidFill>
              </a:rPr>
              <a:t>• Resource Misallocation: </a:t>
            </a:r>
            <a:r>
              <a:rPr>
                <a:solidFill>
                  <a:srgbClr val="1E293B"/>
                </a:solidFill>
              </a:rPr>
              <a:t>Without analytical visibility, farmers often follow static farming practices, resulting in excessive water consumption in dry seasons and severe crop losses during pest outbreaks.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36792" y="1051560"/>
            <a:ext cx="5120640" cy="52120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200"/>
              </a:spcAft>
              <a:defRPr sz="1700" b="1">
                <a:solidFill>
                  <a:srgbClr val="1B365D"/>
                </a:solidFill>
                <a:latin typeface="Segoe UI"/>
              </a:defRPr>
            </a:pPr>
            <a:r>
              <a:t>Analytical Objectives &amp; Value</a:t>
            </a:r>
          </a:p>
          <a:p>
            <a:pPr>
              <a:spcAft>
                <a:spcPts val="1000"/>
              </a:spcAft>
              <a:defRPr sz="1300">
                <a:latin typeface="Segoe UI"/>
              </a:defRPr>
            </a:pPr>
            <a:r>
              <a:rPr b="1">
                <a:solidFill>
                  <a:srgbClr val="1E293B"/>
                </a:solidFill>
              </a:rPr>
              <a:t>• Quantify Seasonal Performance: </a:t>
            </a:r>
            <a:r>
              <a:rPr>
                <a:solidFill>
                  <a:srgbClr val="1E293B"/>
                </a:solidFill>
              </a:rPr>
              <a:t>Examine 4,000 farm records to measure and compare average yield, total production, and net financial profitability across all three cropping seasons.</a:t>
            </a:r>
          </a:p>
          <a:p>
            <a:pPr>
              <a:spcAft>
                <a:spcPts val="1000"/>
              </a:spcAft>
              <a:defRPr sz="1300">
                <a:latin typeface="Segoe UI"/>
              </a:defRPr>
            </a:pPr>
            <a:r>
              <a:rPr b="1">
                <a:solidFill>
                  <a:srgbClr val="1E293B"/>
                </a:solidFill>
              </a:rPr>
              <a:t>• Evaluate Irrigation &amp; Water Use: </a:t>
            </a:r>
            <a:r>
              <a:rPr>
                <a:solidFill>
                  <a:srgbClr val="1E293B"/>
                </a:solidFill>
              </a:rPr>
              <a:t>Determine water efficiency across irrigation methods (Drip, Flood, Rainfed, Sprinkler) to establish optimal water management strategies.</a:t>
            </a:r>
          </a:p>
          <a:p>
            <a:pPr>
              <a:spcAft>
                <a:spcPts val="1000"/>
              </a:spcAft>
              <a:defRPr sz="1300">
                <a:latin typeface="Segoe UI"/>
              </a:defRPr>
            </a:pPr>
            <a:r>
              <a:rPr b="1">
                <a:solidFill>
                  <a:srgbClr val="1E293B"/>
                </a:solidFill>
              </a:rPr>
              <a:t>• Assess Environmental &amp; Pest Risks: </a:t>
            </a:r>
            <a:r>
              <a:rPr>
                <a:solidFill>
                  <a:srgbClr val="1E293B"/>
                </a:solidFill>
              </a:rPr>
              <a:t>Investigate correlations between seasonal climate variables (rainfall, temperature, humidity) and pest/disease outbreak vulnerabilities.</a:t>
            </a:r>
          </a:p>
          <a:p>
            <a:pPr>
              <a:spcAft>
                <a:spcPts val="1000"/>
              </a:spcAft>
              <a:defRPr sz="1300">
                <a:latin typeface="Segoe UI"/>
              </a:defRPr>
            </a:pPr>
            <a:r>
              <a:rPr b="1">
                <a:solidFill>
                  <a:srgbClr val="1E293B"/>
                </a:solidFill>
              </a:rPr>
              <a:t>• Deliver Evidence-Based Planning: </a:t>
            </a:r>
            <a:r>
              <a:rPr>
                <a:solidFill>
                  <a:srgbClr val="1E293B"/>
                </a:solidFill>
              </a:rPr>
              <a:t>Translate analytical findings into actionable recommendations for farmers, agronomists, and policy planners to improve agricultural sustainability.</a:t>
            </a:r>
          </a:p>
        </p:txBody>
      </p:sp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1999" cy="7315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   Project Description &amp; Methodology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051560"/>
            <a:ext cx="5120640" cy="52120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000"/>
              </a:spcAft>
              <a:defRPr sz="1700" b="1">
                <a:solidFill>
                  <a:srgbClr val="1B365D"/>
                </a:solidFill>
                <a:latin typeface="Segoe UI"/>
              </a:defRPr>
            </a:pPr>
            <a:r>
              <a:t>Dataset Scope &amp; Coverage</a:t>
            </a:r>
          </a:p>
          <a:p>
            <a:pPr>
              <a:spcAft>
                <a:spcPts val="1000"/>
              </a:spcAft>
              <a:defRPr sz="1300">
                <a:latin typeface="Segoe UI"/>
              </a:defRPr>
            </a:pPr>
            <a:r>
              <a:rPr b="1">
                <a:solidFill>
                  <a:srgbClr val="1E293B"/>
                </a:solidFill>
              </a:rPr>
              <a:t>• Sample Size: </a:t>
            </a:r>
            <a:r>
              <a:rPr>
                <a:solidFill>
                  <a:srgbClr val="1E293B"/>
                </a:solidFill>
              </a:rPr>
              <a:t>4,000 agricultural farm records spanning 8 Indian states (AP, Gujarat, Karnataka, MP, Maharashtra, Punjab, TN, Telangana) and 10 districts.</a:t>
            </a:r>
          </a:p>
          <a:p>
            <a:pPr>
              <a:spcAft>
                <a:spcPts val="1000"/>
              </a:spcAft>
              <a:defRPr sz="1300">
                <a:latin typeface="Segoe UI"/>
              </a:defRPr>
            </a:pPr>
            <a:r>
              <a:rPr b="1">
                <a:solidFill>
                  <a:srgbClr val="1E293B"/>
                </a:solidFill>
              </a:rPr>
              <a:t>• Seasonal Distribution: </a:t>
            </a:r>
            <a:r>
              <a:rPr>
                <a:solidFill>
                  <a:srgbClr val="1E293B"/>
                </a:solidFill>
              </a:rPr>
              <a:t>Kharif: 1,779 farms (44.5%) | Rabi: 1,627 farms (40.7%) | Zaid: 594 farms (14.8%).</a:t>
            </a:r>
          </a:p>
          <a:p>
            <a:pPr>
              <a:spcAft>
                <a:spcPts val="1000"/>
              </a:spcAft>
              <a:defRPr sz="1300">
                <a:latin typeface="Segoe UI"/>
              </a:defRPr>
            </a:pPr>
            <a:r>
              <a:rPr b="1">
                <a:solidFill>
                  <a:srgbClr val="1E293B"/>
                </a:solidFill>
              </a:rPr>
              <a:t>• Crop Representation: </a:t>
            </a:r>
            <a:r>
              <a:rPr>
                <a:solidFill>
                  <a:srgbClr val="1E293B"/>
                </a:solidFill>
              </a:rPr>
              <a:t>8 distinct crops analyzed across food grains, pulses, and commercial crops: Chilli, Cotton, Groundnut, Maize, Pulses, Rice, Sugarcane, Wheat.</a:t>
            </a:r>
          </a:p>
          <a:p>
            <a:pPr>
              <a:spcAft>
                <a:spcPts val="1000"/>
              </a:spcAft>
              <a:defRPr sz="1300">
                <a:latin typeface="Segoe UI"/>
              </a:defRPr>
            </a:pPr>
            <a:r>
              <a:rPr b="1">
                <a:solidFill>
                  <a:srgbClr val="1E293B"/>
                </a:solidFill>
              </a:rPr>
              <a:t>• Variables (28 Features): </a:t>
            </a:r>
            <a:r>
              <a:rPr>
                <a:solidFill>
                  <a:srgbClr val="1E293B"/>
                </a:solidFill>
              </a:rPr>
              <a:t>Covers environmental indicators (rainfall, temp, humidity), soil nutrients (N, P, K, pH), farming inputs (fertilizer, pesticide, irrigation), and financial metrics (cost, revenue, profit).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36792" y="1051560"/>
            <a:ext cx="5120640" cy="52120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000"/>
              </a:spcAft>
              <a:defRPr sz="1700" b="1">
                <a:solidFill>
                  <a:srgbClr val="1B365D"/>
                </a:solidFill>
                <a:latin typeface="Segoe UI"/>
              </a:defRPr>
            </a:pPr>
            <a:r>
              <a:t>5-Stage Analytical Framework</a:t>
            </a:r>
          </a:p>
          <a:p>
            <a:pPr>
              <a:spcAft>
                <a:spcPts val="800"/>
              </a:spcAft>
              <a:defRPr sz="1300">
                <a:latin typeface="Segoe UI"/>
              </a:defRPr>
            </a:pPr>
            <a:r>
              <a:rPr b="1">
                <a:solidFill>
                  <a:srgbClr val="1E293B"/>
                </a:solidFill>
              </a:rPr>
              <a:t>• 1. Data Auditing &amp; Cleaning: </a:t>
            </a:r>
            <a:r>
              <a:rPr>
                <a:solidFill>
                  <a:srgbClr val="1E293B"/>
                </a:solidFill>
              </a:rPr>
              <a:t>Verified data types, identified zero duplicate rows, detected 120 missing values across 3 variables, and applied robust median imputation.</a:t>
            </a:r>
          </a:p>
          <a:p>
            <a:pPr>
              <a:spcAft>
                <a:spcPts val="800"/>
              </a:spcAft>
              <a:defRPr sz="1300">
                <a:latin typeface="Segoe UI"/>
              </a:defRPr>
            </a:pPr>
            <a:r>
              <a:rPr b="1">
                <a:solidFill>
                  <a:srgbClr val="1E293B"/>
                </a:solidFill>
              </a:rPr>
              <a:t>• 2. Exploratory Data Analysis: </a:t>
            </a:r>
            <a:r>
              <a:rPr>
                <a:solidFill>
                  <a:srgbClr val="1E293B"/>
                </a:solidFill>
              </a:rPr>
              <a:t>Conducted univariate and bivariate aggregations across seasons, crop types, and irrigation categories to evaluate production patterns.</a:t>
            </a:r>
          </a:p>
          <a:p>
            <a:pPr>
              <a:spcAft>
                <a:spcPts val="800"/>
              </a:spcAft>
              <a:defRPr sz="1300">
                <a:latin typeface="Segoe UI"/>
              </a:defRPr>
            </a:pPr>
            <a:r>
              <a:rPr b="1">
                <a:solidFill>
                  <a:srgbClr val="1E293B"/>
                </a:solidFill>
              </a:rPr>
              <a:t>• 3. Environmental &amp; Risk Analysis: </a:t>
            </a:r>
            <a:r>
              <a:rPr>
                <a:solidFill>
                  <a:srgbClr val="1E293B"/>
                </a:solidFill>
              </a:rPr>
              <a:t>Evaluated temperature, sunlight, and rainfall dynamics in relation to pest risk and overall yield output.</a:t>
            </a:r>
          </a:p>
          <a:p>
            <a:pPr>
              <a:spcAft>
                <a:spcPts val="800"/>
              </a:spcAft>
              <a:defRPr sz="1300">
                <a:latin typeface="Segoe UI"/>
              </a:defRPr>
            </a:pPr>
            <a:r>
              <a:rPr b="1">
                <a:solidFill>
                  <a:srgbClr val="1E293B"/>
                </a:solidFill>
              </a:rPr>
              <a:t>• 4. Correlation &amp; Economic Modeling: </a:t>
            </a:r>
            <a:r>
              <a:rPr>
                <a:solidFill>
                  <a:srgbClr val="1E293B"/>
                </a:solidFill>
              </a:rPr>
              <a:t>Computed full Pearson correlation matrix; assessed revenue, operating cost, and net profit margins per season and crop.</a:t>
            </a:r>
          </a:p>
          <a:p>
            <a:pPr>
              <a:spcAft>
                <a:spcPts val="800"/>
              </a:spcAft>
              <a:defRPr sz="1300">
                <a:latin typeface="Segoe UI"/>
              </a:defRPr>
            </a:pPr>
            <a:r>
              <a:rPr b="1">
                <a:solidFill>
                  <a:srgbClr val="1E293B"/>
                </a:solidFill>
              </a:rPr>
              <a:t>• 5. Insights &amp; Recommendations: </a:t>
            </a:r>
            <a:r>
              <a:rPr>
                <a:solidFill>
                  <a:srgbClr val="1E293B"/>
                </a:solidFill>
              </a:rPr>
              <a:t>Synthesized statistical findings into 5 actionable strategic recommendation areas for stakeholders.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0"/>
            <a:ext cx="12191999" cy="7315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   Target End Users &amp; Stakeholder Value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1051560"/>
            <a:ext cx="5120640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spcAft>
                <a:spcPts val="400"/>
              </a:spcAft>
              <a:defRPr sz="1500" b="1">
                <a:solidFill>
                  <a:srgbClr val="1B365D"/>
                </a:solidFill>
                <a:latin typeface="Segoe UI"/>
              </a:defRPr>
            </a:pPr>
            <a:r>
              <a:t>Farmers &amp; Farm Producers</a:t>
            </a:r>
          </a:p>
          <a:p>
            <a:pPr>
              <a:defRPr sz="1200">
                <a:solidFill>
                  <a:srgbClr val="1E293B"/>
                </a:solidFill>
                <a:latin typeface="Segoe UI"/>
              </a:defRPr>
            </a:pPr>
            <a:r>
              <a:t>Guide seasonal crop selection, manage input costs (fertilizers, pesticides), and adopt efficient irrigation scheduling to protect margins during high-risk seasons.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834640"/>
            <a:ext cx="5120640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spcAft>
                <a:spcPts val="400"/>
              </a:spcAft>
              <a:defRPr sz="1500" b="1">
                <a:solidFill>
                  <a:srgbClr val="1B365D"/>
                </a:solidFill>
                <a:latin typeface="Segoe UI"/>
              </a:defRPr>
            </a:pPr>
            <a:r>
              <a:t>Agricultural Policy Planners</a:t>
            </a:r>
          </a:p>
          <a:p>
            <a:pPr>
              <a:defRPr sz="1200">
                <a:solidFill>
                  <a:srgbClr val="1E293B"/>
                </a:solidFill>
                <a:latin typeface="Segoe UI"/>
              </a:defRPr>
            </a:pPr>
            <a:r>
              <a:t>Design evidence-based crop insurance schemes, regional subsidy allocations, and minimum support price policies calibrated to seasonal volatility.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617720"/>
            <a:ext cx="5120640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spcAft>
                <a:spcPts val="400"/>
              </a:spcAft>
              <a:defRPr sz="1500" b="1">
                <a:solidFill>
                  <a:srgbClr val="1B365D"/>
                </a:solidFill>
                <a:latin typeface="Segoe UI"/>
              </a:defRPr>
            </a:pPr>
            <a:r>
              <a:t>Irrigation &amp; Water Authorities</a:t>
            </a:r>
          </a:p>
          <a:p>
            <a:pPr>
              <a:defRPr sz="1200">
                <a:solidFill>
                  <a:srgbClr val="1E293B"/>
                </a:solidFill>
                <a:latin typeface="Segoe UI"/>
              </a:defRPr>
            </a:pPr>
            <a:r>
              <a:t>Identify water-efficient irrigation methods (such as drip) to optimize canal water distribution during water-scarce summer (Zaid) periods.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36792" y="1051560"/>
            <a:ext cx="5120640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spcAft>
                <a:spcPts val="400"/>
              </a:spcAft>
              <a:defRPr sz="1500" b="1">
                <a:solidFill>
                  <a:srgbClr val="1B365D"/>
                </a:solidFill>
                <a:latin typeface="Segoe UI"/>
              </a:defRPr>
            </a:pPr>
            <a:r>
              <a:t>Agronomists &amp; Researchers</a:t>
            </a:r>
          </a:p>
          <a:p>
            <a:pPr>
              <a:defRPr sz="1200">
                <a:solidFill>
                  <a:srgbClr val="1E293B"/>
                </a:solidFill>
                <a:latin typeface="Segoe UI"/>
              </a:defRPr>
            </a:pPr>
            <a:r>
              <a:t>Analyze empirical interactions between climate variables, disease/pest risk, and soil chemistry to develop resilient agricultural models.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36792" y="2834640"/>
            <a:ext cx="5120640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spcAft>
                <a:spcPts val="400"/>
              </a:spcAft>
              <a:defRPr sz="1500" b="1">
                <a:solidFill>
                  <a:srgbClr val="1B365D"/>
                </a:solidFill>
                <a:latin typeface="Segoe UI"/>
              </a:defRPr>
            </a:pPr>
            <a:r>
              <a:t>Agribusiness &amp; Financial Analysts</a:t>
            </a:r>
          </a:p>
          <a:p>
            <a:pPr>
              <a:defRPr sz="1200">
                <a:solidFill>
                  <a:srgbClr val="1E293B"/>
                </a:solidFill>
                <a:latin typeface="Segoe UI"/>
              </a:defRPr>
            </a:pPr>
            <a:r>
              <a:t>Assess seasonal revenue risks, crop-specific profitability trends, and agricultural credit viability across commercial and staple crops.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36792" y="4617720"/>
            <a:ext cx="5120640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spcAft>
                <a:spcPts val="400"/>
              </a:spcAft>
              <a:defRPr sz="1500" b="1">
                <a:solidFill>
                  <a:srgbClr val="1B365D"/>
                </a:solidFill>
                <a:latin typeface="Segoe UI"/>
              </a:defRPr>
            </a:pPr>
            <a:r>
              <a:t>Data Analytics Students &amp; Educators</a:t>
            </a:r>
          </a:p>
          <a:p>
            <a:pPr>
              <a:defRPr sz="1200">
                <a:solidFill>
                  <a:srgbClr val="1E293B"/>
                </a:solidFill>
                <a:latin typeface="Segoe UI"/>
              </a:defRPr>
            </a:pPr>
            <a:r>
              <a:t>Serve as a comprehensive benchmark case study for applied exploratory data analysis, hypothesis validation, and multivariate agricultural modeling.</a:t>
            </a: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0"/>
            <a:ext cx="12191999" cy="7315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   Technology Stack &amp; Development Environment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1051560"/>
            <a:ext cx="5120640" cy="24688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600" b="1">
                <a:solidFill>
                  <a:srgbClr val="1B365D"/>
                </a:solidFill>
                <a:latin typeface="Segoe UI"/>
              </a:defRPr>
            </a:pPr>
            <a:r>
              <a:t>Programming &amp; Runtime</a:t>
            </a:r>
          </a:p>
          <a:p>
            <a:pPr>
              <a:spcAft>
                <a:spcPts val="800"/>
              </a:spcAft>
              <a:defRPr sz="1300" b="1">
                <a:solidFill>
                  <a:srgbClr val="475569"/>
                </a:solidFill>
                <a:latin typeface="Segoe UI"/>
              </a:defRPr>
            </a:pPr>
            <a:r>
              <a:t>Python 3.14</a:t>
            </a:r>
          </a:p>
          <a:p>
            <a:pPr>
              <a:spcAft>
                <a:spcPts val="400"/>
              </a:spcAft>
              <a:defRPr sz="1200">
                <a:latin typeface="Segoe UI"/>
              </a:defRPr>
            </a:pPr>
            <a:r>
              <a:rPr b="1">
                <a:solidFill>
                  <a:srgbClr val="1E293B"/>
                </a:solidFill>
              </a:rPr>
              <a:t>• Core Language: </a:t>
            </a:r>
            <a:r>
              <a:rPr>
                <a:solidFill>
                  <a:srgbClr val="1E293B"/>
                </a:solidFill>
              </a:rPr>
              <a:t>Chosen for comprehensive scientific computing ecosystem, robust data manipulation, and wide industry adoption.</a:t>
            </a:r>
          </a:p>
          <a:p>
            <a:pPr>
              <a:spcAft>
                <a:spcPts val="400"/>
              </a:spcAft>
              <a:defRPr sz="1200">
                <a:latin typeface="Segoe UI"/>
              </a:defRPr>
            </a:pPr>
            <a:r>
              <a:rPr b="1">
                <a:solidFill>
                  <a:srgbClr val="1E293B"/>
                </a:solidFill>
              </a:rPr>
              <a:t>• Jupyter Notebook: </a:t>
            </a:r>
            <a:r>
              <a:rPr>
                <a:solidFill>
                  <a:srgbClr val="1E293B"/>
                </a:solidFill>
              </a:rPr>
              <a:t>Interactive computing environment used for modular step-by-step analysis, output persistence, and inline documentation.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36792" y="1051560"/>
            <a:ext cx="5120640" cy="24688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600" b="1">
                <a:solidFill>
                  <a:srgbClr val="1B365D"/>
                </a:solidFill>
                <a:latin typeface="Segoe UI"/>
              </a:defRPr>
            </a:pPr>
            <a:r>
              <a:t>Data Manipulation &amp; Math</a:t>
            </a:r>
          </a:p>
          <a:p>
            <a:pPr>
              <a:spcAft>
                <a:spcPts val="800"/>
              </a:spcAft>
              <a:defRPr sz="1300" b="1">
                <a:solidFill>
                  <a:srgbClr val="475569"/>
                </a:solidFill>
                <a:latin typeface="Segoe UI"/>
              </a:defRPr>
            </a:pPr>
            <a:r>
              <a:t>Pandas &amp; NumPy</a:t>
            </a:r>
          </a:p>
          <a:p>
            <a:pPr>
              <a:spcAft>
                <a:spcPts val="400"/>
              </a:spcAft>
              <a:defRPr sz="1200">
                <a:latin typeface="Segoe UI"/>
              </a:defRPr>
            </a:pPr>
            <a:r>
              <a:rPr b="1">
                <a:solidFill>
                  <a:srgbClr val="1E293B"/>
                </a:solidFill>
              </a:rPr>
              <a:t>• Pandas (v2.x): </a:t>
            </a:r>
            <a:r>
              <a:rPr>
                <a:solidFill>
                  <a:srgbClr val="1E293B"/>
                </a:solidFill>
              </a:rPr>
              <a:t>Efficient handling of 4,000-row tabular dataset, missing value imputation, multi-column groupbys, and statistical aggregation.</a:t>
            </a:r>
          </a:p>
          <a:p>
            <a:pPr>
              <a:spcAft>
                <a:spcPts val="400"/>
              </a:spcAft>
              <a:defRPr sz="1200">
                <a:latin typeface="Segoe UI"/>
              </a:defRPr>
            </a:pPr>
            <a:r>
              <a:rPr b="1">
                <a:solidFill>
                  <a:srgbClr val="1E293B"/>
                </a:solidFill>
              </a:rPr>
              <a:t>• NumPy: </a:t>
            </a:r>
            <a:r>
              <a:rPr>
                <a:solidFill>
                  <a:srgbClr val="1E293B"/>
                </a:solidFill>
              </a:rPr>
              <a:t>Vectorized array calculations, numerical transformations, and foundational data structures.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657600"/>
            <a:ext cx="5120640" cy="24688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600" b="1">
                <a:solidFill>
                  <a:srgbClr val="1B365D"/>
                </a:solidFill>
                <a:latin typeface="Segoe UI"/>
              </a:defRPr>
            </a:pPr>
            <a:r>
              <a:t>Data Visualization</a:t>
            </a:r>
          </a:p>
          <a:p>
            <a:pPr>
              <a:spcAft>
                <a:spcPts val="800"/>
              </a:spcAft>
              <a:defRPr sz="1300" b="1">
                <a:solidFill>
                  <a:srgbClr val="475569"/>
                </a:solidFill>
                <a:latin typeface="Segoe UI"/>
              </a:defRPr>
            </a:pPr>
            <a:r>
              <a:t>Matplotlib &amp; Seaborn</a:t>
            </a:r>
          </a:p>
          <a:p>
            <a:pPr>
              <a:spcAft>
                <a:spcPts val="400"/>
              </a:spcAft>
              <a:defRPr sz="1200">
                <a:latin typeface="Segoe UI"/>
              </a:defRPr>
            </a:pPr>
            <a:r>
              <a:rPr b="1">
                <a:solidFill>
                  <a:srgbClr val="1E293B"/>
                </a:solidFill>
              </a:rPr>
              <a:t>• Matplotlib: </a:t>
            </a:r>
            <a:r>
              <a:rPr>
                <a:solidFill>
                  <a:srgbClr val="1E293B"/>
                </a:solidFill>
              </a:rPr>
              <a:t>Custom figure formatting, axis scaling, dual-axis plotting, and rasterization of 12 publication-quality PNG charts.</a:t>
            </a:r>
          </a:p>
          <a:p>
            <a:pPr>
              <a:spcAft>
                <a:spcPts val="400"/>
              </a:spcAft>
              <a:defRPr sz="1200">
                <a:latin typeface="Segoe UI"/>
              </a:defRPr>
            </a:pPr>
            <a:r>
              <a:rPr b="1">
                <a:solidFill>
                  <a:srgbClr val="1E293B"/>
                </a:solidFill>
              </a:rPr>
              <a:t>• Seaborn: </a:t>
            </a:r>
            <a:r>
              <a:rPr>
                <a:solidFill>
                  <a:srgbClr val="1E293B"/>
                </a:solidFill>
              </a:rPr>
              <a:t>High-level statistical visualization including multi-feature correlation heatmaps, categorical bar charts, and regression scatters.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36792" y="3657600"/>
            <a:ext cx="5120640" cy="24688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600" b="1">
                <a:solidFill>
                  <a:srgbClr val="1B365D"/>
                </a:solidFill>
                <a:latin typeface="Segoe UI"/>
              </a:defRPr>
            </a:pPr>
            <a:r>
              <a:t>Dataset Pipeline &amp; Versioning</a:t>
            </a:r>
          </a:p>
          <a:p>
            <a:pPr>
              <a:spcAft>
                <a:spcPts val="800"/>
              </a:spcAft>
              <a:defRPr sz="1300" b="1">
                <a:solidFill>
                  <a:srgbClr val="475569"/>
                </a:solidFill>
                <a:latin typeface="Segoe UI"/>
              </a:defRPr>
            </a:pPr>
            <a:r>
              <a:t>CSV &amp; Git / GitHub</a:t>
            </a:r>
          </a:p>
          <a:p>
            <a:pPr>
              <a:spcAft>
                <a:spcPts val="400"/>
              </a:spcAft>
              <a:defRPr sz="1200">
                <a:latin typeface="Segoe UI"/>
              </a:defRPr>
            </a:pPr>
            <a:r>
              <a:rPr b="1">
                <a:solidFill>
                  <a:srgbClr val="1E293B"/>
                </a:solidFill>
              </a:rPr>
              <a:t>• Structured CSV: </a:t>
            </a:r>
            <a:r>
              <a:rPr>
                <a:solidFill>
                  <a:srgbClr val="1E293B"/>
                </a:solidFill>
              </a:rPr>
              <a:t>Clean 28-variable schema preserving original records while maintaining full portability across data workflows.</a:t>
            </a:r>
          </a:p>
          <a:p>
            <a:pPr>
              <a:spcAft>
                <a:spcPts val="400"/>
              </a:spcAft>
              <a:defRPr sz="1200">
                <a:latin typeface="Segoe UI"/>
              </a:defRPr>
            </a:pPr>
            <a:r>
              <a:rPr b="1">
                <a:solidFill>
                  <a:srgbClr val="1E293B"/>
                </a:solidFill>
              </a:rPr>
              <a:t>• Git &amp; GitHub: </a:t>
            </a:r>
            <a:r>
              <a:rPr>
                <a:solidFill>
                  <a:srgbClr val="1E293B"/>
                </a:solidFill>
              </a:rPr>
              <a:t>Version-controlled project repository ensuring full reproducibility of code, dataset, charts, and documentation.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0" y="0"/>
            <a:ext cx="12191999" cy="7315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   Results — Season-wise Performance Analysis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868680"/>
            <a:ext cx="10728655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1B365D"/>
                </a:solidFill>
                <a:latin typeface="Segoe UI"/>
              </a:defRPr>
            </a:pPr>
            <a:r>
              <a:t>KEY METRICS COMPARISON ACROSS SEASONS (EXACT DATASET VALUES)</a:t>
            </a:r>
          </a:p>
          <a:p>
            <a:pPr>
              <a:defRPr sz="1200" b="1">
                <a:solidFill>
                  <a:srgbClr val="1E293B"/>
                </a:solidFill>
                <a:latin typeface="Segoe UI"/>
              </a:defRPr>
            </a:pPr>
            <a:r>
              <a:t>• Average Yield (t/ha):  Kharif: 5.63  |  Rabi: 5.04  |  Zaid: 4.64</a:t>
            </a:r>
            <a:br/>
            <a:r>
              <a:t>• Average Profit (₹):  Kharif: ₹1,78,915  |  Rabi: ₹87,689  |  Zaid: -₹24,805</a:t>
            </a:r>
            <a:br/>
            <a:r>
              <a:t>• Profitable Farms (%):  Kharif: 57.8% (1,028 farms)  |  Rabi: 48.9% (795 farms)  |  Zaid: 35.5% (211 farms)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423160"/>
            <a:ext cx="5120640" cy="315468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2423160"/>
            <a:ext cx="5120640" cy="315468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31520" y="5715000"/>
            <a:ext cx="107286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75569"/>
                </a:solidFill>
                <a:latin typeface="Segoe UI"/>
              </a:defRPr>
            </a:pPr>
            <a:r>
              <a:t>Key Insight: Kharif achieves highest yield (5.63 t/ha) &amp; profitability due to monsoon rainfall. Zaid suffers from water deficit, yielding -₹24.8K average profit.</a:t>
            </a: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0" y="0"/>
            <a:ext cx="12191999" cy="7315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   Results — Total Production &amp; Crop-wise Yield Analysis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868680"/>
            <a:ext cx="10728655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1B365D"/>
                </a:solidFill>
                <a:latin typeface="Segoe UI"/>
              </a:defRPr>
            </a:pPr>
            <a:r>
              <a:t>PRODUCTION VOLUME &amp; TOP CROP PERFORMANCE (EXACT DATASET VALUES)</a:t>
            </a:r>
          </a:p>
          <a:p>
            <a:pPr>
              <a:defRPr sz="1200" b="1">
                <a:solidFill>
                  <a:srgbClr val="1E293B"/>
                </a:solidFill>
                <a:latin typeface="Segoe UI"/>
              </a:defRPr>
            </a:pPr>
            <a:r>
              <a:t>• Total Production:  Kharif: 82,388 tonnes (47.6%)  |  Rabi: 67,499 tonnes (39.0%)  |  Zaid: 23,098 tonnes (13.4%)</a:t>
            </a:r>
            <a:br/>
            <a:r>
              <a:t>• Top Crops by Yield (t/ha):  Sugarcane: 46.64  |  Maize: 2.71  |  Rice: 2.43  |  Wheat: 2.11  |  Chilli: 1.54</a:t>
            </a:r>
            <a:br/>
            <a:r>
              <a:t>• Top Crops by Net Profit (₹):  Sugarcane: ₹8,17,188  |  Chilli: ₹7,50,878  |  Cotton: ₹1,24,547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423160"/>
            <a:ext cx="5120640" cy="315468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2423160"/>
            <a:ext cx="5120640" cy="304495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31520" y="5715000"/>
            <a:ext cx="107286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75569"/>
                </a:solidFill>
                <a:latin typeface="Segoe UI"/>
              </a:defRPr>
            </a:pPr>
            <a:r>
              <a:t>Key Insight: Sugarcane dominates biomass production (46.64 t/ha) &amp; profit (₹8.17L). Staple cereals (Rice, Wheat) show lower yields &amp; negative margins due to input costs.</a:t>
            </a:r>
          </a:p>
        </p:txBody>
      </p:sp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0" y="0"/>
            <a:ext cx="12191999" cy="7315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   Results — Environmental Factors &amp; Pest/Disease Risk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868680"/>
            <a:ext cx="10728655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1B365D"/>
                </a:solidFill>
                <a:latin typeface="Segoe UI"/>
              </a:defRPr>
            </a:pPr>
            <a:r>
              <a:t>ENVIRONMENTAL DYNAMICS &amp; DISEASE CORRELATIONS</a:t>
            </a:r>
          </a:p>
          <a:p>
            <a:pPr>
              <a:defRPr sz="1200" b="1">
                <a:solidFill>
                  <a:srgbClr val="1E293B"/>
                </a:solidFill>
                <a:latin typeface="Segoe UI"/>
              </a:defRPr>
            </a:pPr>
            <a:r>
              <a:t>• Avg Temperature (°C):  Kharif: 28.5°C  |  Rabi: 23.5°C  |  Zaid: 31.0°C (Highest thermal stress)</a:t>
            </a:r>
            <a:br/>
            <a:r>
              <a:t>• Disease &amp; Pest Risk (%):  Kharif: 54.5%  |  Rabi: 40.5%  |  Zaid: 38.2%</a:t>
            </a:r>
            <a:br/>
            <a:r>
              <a:t>• Critical Correlation: Rainfall ↔ Disease Risk (r = 0.622) &amp; Humidity ↔ Disease Risk (r = 0.545) show strong positive links.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423160"/>
            <a:ext cx="5120640" cy="3035808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2423160"/>
            <a:ext cx="5120640" cy="315468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31520" y="5715000"/>
            <a:ext cx="107286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75569"/>
                </a:solidFill>
                <a:latin typeface="Segoe UI"/>
              </a:defRPr>
            </a:pPr>
            <a:r>
              <a:t>Key Insight: Direct correlation between Rainfall/Temp and Yield is weak individually (r ≈ 0.01-0.03), but high rainfall drives severe pest outbreaks (54.5% in Kharif).</a:t>
            </a:r>
          </a:p>
        </p:txBody>
      </p:sp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0" y="0"/>
            <a:ext cx="12191999" cy="7315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   Results — Irrigation Methods &amp; Water Efficiency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868680"/>
            <a:ext cx="10728655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spcAft>
                <a:spcPts val="400"/>
              </a:spcAft>
              <a:defRPr sz="1300" b="1">
                <a:solidFill>
                  <a:srgbClr val="1B365D"/>
                </a:solidFill>
                <a:latin typeface="Segoe UI"/>
              </a:defRPr>
            </a:pPr>
            <a:r>
              <a:t>IRRIGATION EFFICIENCY &amp; WATER PRODUCTIVITY (EXACT DATASET VALUES)</a:t>
            </a:r>
          </a:p>
          <a:p>
            <a:pPr>
              <a:defRPr sz="1200" b="1">
                <a:solidFill>
                  <a:srgbClr val="1E293B"/>
                </a:solidFill>
                <a:latin typeface="Segoe UI"/>
              </a:defRPr>
            </a:pPr>
            <a:r>
              <a:t>• Yield by Irrigation (t/ha):  Drip: 6.58  |  Sprinkler: 5.16  |  Flood: 4.86  |  Rainfed: 4.60</a:t>
            </a:r>
            <a:br/>
            <a:r>
              <a:t>• Water Efficiency (t/1000m³):  Rainfed: 7.56  |  Drip: 6.27  |  Sprinkler: 4.67  |  Flood: 3.44</a:t>
            </a:r>
            <a:br/>
            <a:r>
              <a:t>• Mean Seasonal Water Usage:  Kharif: 6,102 m³  |  Rabi: 5,847 m³  |  Zaid: 6,420 m³ (Highest water demand)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423160"/>
            <a:ext cx="5120640" cy="315468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2423160"/>
            <a:ext cx="5120640" cy="315468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31520" y="5715000"/>
            <a:ext cx="107286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75569"/>
                </a:solidFill>
                <a:latin typeface="Segoe UI"/>
              </a:defRPr>
            </a:pPr>
            <a:r>
              <a:t>Key Insight: Drip irrigation yields 43% higher than rainfed (6.58 vs 4.60 t/ha). Flood irrigation is least efficient (3.44 t/1000m³) and should be transitioned to micro-irrigation.</a:t>
            </a:r>
          </a:p>
        </p:txBody>
      </p:sp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0" y="0"/>
            <a:ext cx="12191999" cy="7315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   Results — Correlation Matrix &amp; Synthesis of Findings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960120"/>
            <a:ext cx="5212080" cy="53035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700" b="1">
                <a:solidFill>
                  <a:srgbClr val="1B365D"/>
                </a:solidFill>
                <a:latin typeface="Segoe UI"/>
              </a:defRPr>
            </a:pPr>
            <a:r>
              <a:t>Key Empirical Findings</a:t>
            </a:r>
          </a:p>
          <a:p>
            <a:pPr>
              <a:spcAft>
                <a:spcPts val="600"/>
              </a:spcAft>
              <a:defRPr sz="1150">
                <a:latin typeface="Segoe UI"/>
              </a:defRPr>
            </a:pPr>
            <a:r>
              <a:rPr b="1">
                <a:solidFill>
                  <a:srgbClr val="1E293B"/>
                </a:solidFill>
              </a:rPr>
              <a:t>1. Kharif Outperformance: </a:t>
            </a:r>
            <a:r>
              <a:rPr>
                <a:solidFill>
                  <a:srgbClr val="1E293B"/>
                </a:solidFill>
              </a:rPr>
              <a:t>Kharif achieves peak average yield (5.63 t/ha) and highest profit (₹1,78,915), but experiences highest pest risk (54.5%).</a:t>
            </a:r>
          </a:p>
          <a:p>
            <a:pPr>
              <a:spcAft>
                <a:spcPts val="600"/>
              </a:spcAft>
              <a:defRPr sz="1150">
                <a:latin typeface="Segoe UI"/>
              </a:defRPr>
            </a:pPr>
            <a:r>
              <a:rPr b="1">
                <a:solidFill>
                  <a:srgbClr val="1E293B"/>
                </a:solidFill>
              </a:rPr>
              <a:t>2. Zaid Season Stress: </a:t>
            </a:r>
            <a:r>
              <a:rPr>
                <a:solidFill>
                  <a:srgbClr val="1E293B"/>
                </a:solidFill>
              </a:rPr>
              <a:t>Zaid is characterized by severe water deficit (299 mm rainfall), lowest yield (4.64 t/ha), and negative avg profit (-₹24,805). Only 35.5% of farms turn a profit.</a:t>
            </a:r>
          </a:p>
          <a:p>
            <a:pPr>
              <a:spcAft>
                <a:spcPts val="600"/>
              </a:spcAft>
              <a:defRPr sz="1150">
                <a:latin typeface="Segoe UI"/>
              </a:defRPr>
            </a:pPr>
            <a:r>
              <a:rPr b="1">
                <a:solidFill>
                  <a:srgbClr val="1E293B"/>
                </a:solidFill>
              </a:rPr>
              <a:t>3. High Commercial Profitability: </a:t>
            </a:r>
            <a:r>
              <a:rPr>
                <a:solidFill>
                  <a:srgbClr val="1E293B"/>
                </a:solidFill>
              </a:rPr>
              <a:t>Sugarcane (₹8.17L) and Chilli (₹7.51L) generate substantial net profits, while food grains (Wheat, Rice, Maize) averaged net negative returns.</a:t>
            </a:r>
          </a:p>
          <a:p>
            <a:pPr>
              <a:spcAft>
                <a:spcPts val="600"/>
              </a:spcAft>
              <a:defRPr sz="1150">
                <a:latin typeface="Segoe UI"/>
              </a:defRPr>
            </a:pPr>
            <a:r>
              <a:rPr b="1">
                <a:solidFill>
                  <a:srgbClr val="1E293B"/>
                </a:solidFill>
              </a:rPr>
              <a:t>4. Drip Irrigation Superiority: </a:t>
            </a:r>
            <a:r>
              <a:rPr>
                <a:solidFill>
                  <a:srgbClr val="1E293B"/>
                </a:solidFill>
              </a:rPr>
              <a:t>Drip irrigation generates the highest yield (6.58 t/ha) and strong water efficiency (6.27 t/1000m³), outperforming conventional flood methods.</a:t>
            </a:r>
          </a:p>
          <a:p>
            <a:pPr>
              <a:spcAft>
                <a:spcPts val="600"/>
              </a:spcAft>
              <a:defRPr sz="1150">
                <a:latin typeface="Segoe UI"/>
              </a:defRPr>
            </a:pPr>
            <a:r>
              <a:rPr b="1">
                <a:solidFill>
                  <a:srgbClr val="1E293B"/>
                </a:solidFill>
              </a:rPr>
              <a:t>5. Weather-Disease Linkage: </a:t>
            </a:r>
            <a:r>
              <a:rPr>
                <a:solidFill>
                  <a:srgbClr val="1E293B"/>
                </a:solidFill>
              </a:rPr>
              <a:t>Rainfall strongly correlates with pest risk (r = 0.622) and soil moisture (r = 0.509), necessitating proactive pesticide management in high monsoon seasons.</a:t>
            </a:r>
          </a:p>
          <a:p>
            <a:pPr>
              <a:spcAft>
                <a:spcPts val="600"/>
              </a:spcAft>
              <a:defRPr sz="1150">
                <a:latin typeface="Segoe UI"/>
              </a:defRPr>
            </a:pPr>
            <a:r>
              <a:rPr b="1">
                <a:solidFill>
                  <a:srgbClr val="1E293B"/>
                </a:solidFill>
              </a:rPr>
              <a:t>6. Strong Production Drivers: </a:t>
            </a:r>
            <a:r>
              <a:rPr>
                <a:solidFill>
                  <a:srgbClr val="1E293B"/>
                </a:solidFill>
              </a:rPr>
              <a:t>Yield shows strong positive correlation with water efficiency (r = 0.913) and total harvest production (r = 0.883).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51560"/>
            <a:ext cx="5239512" cy="483717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217920" y="5943600"/>
            <a:ext cx="52395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475569"/>
                </a:solidFill>
                <a:latin typeface="Segoe UI"/>
              </a:defRPr>
            </a:pPr>
            <a:r>
              <a:t>Figure 12: Pearson Correlation Matrix across 28 Features (|r| &gt; 0.3 labeled)</a:t>
            </a:r>
          </a:p>
        </p:txBody>
      </p:sp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0" y="0"/>
            <a:ext cx="12191999" cy="7315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   Future Scope &amp; Strategic Roadmap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1051560"/>
            <a:ext cx="5120640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spcAft>
                <a:spcPts val="400"/>
              </a:spcAft>
              <a:defRPr sz="1500" b="1">
                <a:solidFill>
                  <a:srgbClr val="1B365D"/>
                </a:solidFill>
                <a:latin typeface="Segoe UI"/>
              </a:defRPr>
            </a:pPr>
            <a:r>
              <a:t>Predictive Yield &amp; Risk Modeling</a:t>
            </a:r>
          </a:p>
          <a:p>
            <a:pPr>
              <a:defRPr sz="1200">
                <a:solidFill>
                  <a:srgbClr val="1E293B"/>
                </a:solidFill>
                <a:latin typeface="Segoe UI"/>
              </a:defRPr>
            </a:pPr>
            <a:r>
              <a:t>Train supervised machine learning models (Random Forest, XGBoost) on historical multi-season data to forecast crop yield and early-stage pest probabilities prior to planting.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2834640"/>
            <a:ext cx="5120640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spcAft>
                <a:spcPts val="400"/>
              </a:spcAft>
              <a:defRPr sz="1500" b="1">
                <a:solidFill>
                  <a:srgbClr val="1B365D"/>
                </a:solidFill>
                <a:latin typeface="Segoe UI"/>
              </a:defRPr>
            </a:pPr>
            <a:r>
              <a:t>Longitudinal Multi-Year Studies</a:t>
            </a:r>
          </a:p>
          <a:p>
            <a:pPr>
              <a:defRPr sz="1200">
                <a:solidFill>
                  <a:srgbClr val="1E293B"/>
                </a:solidFill>
                <a:latin typeface="Segoe UI"/>
              </a:defRPr>
            </a:pPr>
            <a:r>
              <a:t>Expand analysis across 5–10 years to distinguish macro climate change trends from regular seasonal variation and assess long-term soil nutrient degradation.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617720"/>
            <a:ext cx="5120640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spcAft>
                <a:spcPts val="400"/>
              </a:spcAft>
              <a:defRPr sz="1500" b="1">
                <a:solidFill>
                  <a:srgbClr val="1B365D"/>
                </a:solidFill>
                <a:latin typeface="Segoe UI"/>
              </a:defRPr>
            </a:pPr>
            <a:r>
              <a:t>Precision Micro-Irrigation Adoption</a:t>
            </a:r>
          </a:p>
          <a:p>
            <a:pPr>
              <a:defRPr sz="1200">
                <a:solidFill>
                  <a:srgbClr val="1E293B"/>
                </a:solidFill>
                <a:latin typeface="Segoe UI"/>
              </a:defRPr>
            </a:pPr>
            <a:r>
              <a:t>Formulate state-level subsidy transitions from flood irrigation to drip and sprinkler systems, targeting arid regions during the vulnerable Zaid season.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36792" y="1051560"/>
            <a:ext cx="5120640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spcAft>
                <a:spcPts val="400"/>
              </a:spcAft>
              <a:defRPr sz="1500" b="1">
                <a:solidFill>
                  <a:srgbClr val="1B365D"/>
                </a:solidFill>
                <a:latin typeface="Segoe UI"/>
              </a:defRPr>
            </a:pPr>
            <a:r>
              <a:t>Crop Diversification &amp; Soil Management</a:t>
            </a:r>
          </a:p>
          <a:p>
            <a:pPr>
              <a:defRPr sz="1200">
                <a:solidFill>
                  <a:srgbClr val="1E293B"/>
                </a:solidFill>
                <a:latin typeface="Segoe UI"/>
              </a:defRPr>
            </a:pPr>
            <a:r>
              <a:t>Encourage farmers to intercrop high-margin cash crops (Chilli, Groundnut) with nitrogen-fixing pulses to offset market risks and preserve soil health.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36792" y="2834640"/>
            <a:ext cx="5120640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spcAft>
                <a:spcPts val="400"/>
              </a:spcAft>
              <a:defRPr sz="1500" b="1">
                <a:solidFill>
                  <a:srgbClr val="1B365D"/>
                </a:solidFill>
                <a:latin typeface="Segoe UI"/>
              </a:defRPr>
            </a:pPr>
            <a:r>
              <a:t>Interactive Decision Support Systems</a:t>
            </a:r>
          </a:p>
          <a:p>
            <a:pPr>
              <a:defRPr sz="1200">
                <a:solidFill>
                  <a:srgbClr val="1E293B"/>
                </a:solidFill>
                <a:latin typeface="Segoe UI"/>
              </a:defRPr>
            </a:pPr>
            <a:r>
              <a:t>Deploy open-access web applications (Streamlit / Power BI) enabling farmers and local extension officers to input soil/weather conditions and receive customized crop advice.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36792" y="4617720"/>
            <a:ext cx="5120640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spcAft>
                <a:spcPts val="400"/>
              </a:spcAft>
              <a:defRPr sz="1500" b="1">
                <a:solidFill>
                  <a:srgbClr val="1B365D"/>
                </a:solidFill>
                <a:latin typeface="Segoe UI"/>
              </a:defRPr>
            </a:pPr>
            <a:r>
              <a:t>IoT &amp; Weather Station Sensor Feeds</a:t>
            </a:r>
          </a:p>
          <a:p>
            <a:pPr>
              <a:defRPr sz="1200">
                <a:solidFill>
                  <a:srgbClr val="1E293B"/>
                </a:solidFill>
                <a:latin typeface="Segoe UI"/>
              </a:defRPr>
            </a:pPr>
            <a:r>
              <a:t>Integrate live field sensor telemetry (soil moisture probes, local rain gauges) with automated SMS advisories for precision pesticide application.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0" y="0"/>
            <a:ext cx="12191999" cy="7315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   GitHub Repository &amp; Project Deliverables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960120"/>
            <a:ext cx="10728655" cy="13716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/>
          <a:lstStyle/>
          <a:p>
            <a:pPr algn="ctr">
              <a:spcAft>
                <a:spcPts val="200"/>
              </a:spcAft>
              <a:defRPr sz="1200" b="1">
                <a:solidFill>
                  <a:srgbClr val="475569"/>
                </a:solidFill>
                <a:latin typeface="Segoe UI"/>
              </a:defRPr>
            </a:pPr>
            <a:r>
              <a:t>PUBLIC SOURCE CODE REPOSITORY</a:t>
            </a:r>
          </a:p>
          <a:p>
            <a:pPr>
              <a:spcAft>
                <a:spcPts val="400"/>
              </a:spcAft>
              <a:defRPr sz="1900" b="1">
                <a:solidFill>
                  <a:srgbClr val="1B365D"/>
                </a:solidFill>
                <a:latin typeface="Segoe UI"/>
              </a:defRPr>
            </a:pPr>
            <a:r>
              <a:t>krishna3163 / Seasonal-Agriculture-Performance-Analysis</a:t>
            </a:r>
          </a:p>
          <a:p>
            <a:pPr>
              <a:defRPr sz="1400">
                <a:latin typeface="Segoe UI"/>
              </a:defRPr>
            </a:pPr>
            <a:r>
              <a:rPr b="1" u="sng">
                <a:solidFill>
                  <a:srgbClr val="1D4ED8"/>
                </a:solidFill>
              </a:rPr>
              <a:t>https://github.com/krishna3163/Seasonal-Agriculture-Performance-Analysis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2514600"/>
            <a:ext cx="2468880" cy="36118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500" b="1">
                <a:solidFill>
                  <a:srgbClr val="1B365D"/>
                </a:solidFill>
                <a:latin typeface="Segoe UI"/>
              </a:defRPr>
            </a:pPr>
            <a:r>
              <a:t>Jupyter Notebook</a:t>
            </a:r>
          </a:p>
          <a:p>
            <a:pPr>
              <a:spcAft>
                <a:spcPts val="1000"/>
              </a:spcAft>
              <a:defRPr sz="1100" b="1">
                <a:solidFill>
                  <a:srgbClr val="475569"/>
                </a:solidFill>
                <a:latin typeface="Segoe UI"/>
              </a:defRPr>
            </a:pPr>
            <a:r>
              <a:t>[.ipynb]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• Complete end-to-end data pipeline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• 85 cells (30 code, 55 markdown)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• Pre-executed outputs &amp; plots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• 0 errors, fully reproducible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83864" y="2514600"/>
            <a:ext cx="2468880" cy="36118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500" b="1">
                <a:solidFill>
                  <a:srgbClr val="1B365D"/>
                </a:solidFill>
                <a:latin typeface="Segoe UI"/>
              </a:defRPr>
            </a:pPr>
            <a:r>
              <a:t>Project Dataset</a:t>
            </a:r>
          </a:p>
          <a:p>
            <a:pPr>
              <a:spcAft>
                <a:spcPts val="1000"/>
              </a:spcAft>
              <a:defRPr sz="1100" b="1">
                <a:solidFill>
                  <a:srgbClr val="475569"/>
                </a:solidFill>
                <a:latin typeface="Segoe UI"/>
              </a:defRPr>
            </a:pPr>
            <a:r>
              <a:t>[.csv]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• 4,000 farm records × 28 features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• Original unmodified raw dataset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• 3 seasons, 8 crops, 8 states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• Full schema documentation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6208" y="2514600"/>
            <a:ext cx="2468880" cy="36118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500" b="1">
                <a:solidFill>
                  <a:srgbClr val="1B365D"/>
                </a:solidFill>
                <a:latin typeface="Segoe UI"/>
              </a:defRPr>
            </a:pPr>
            <a:r>
              <a:t>Visualizations</a:t>
            </a:r>
          </a:p>
          <a:p>
            <a:pPr>
              <a:spcAft>
                <a:spcPts val="1000"/>
              </a:spcAft>
              <a:defRPr sz="1100" b="1">
                <a:solidFill>
                  <a:srgbClr val="475569"/>
                </a:solidFill>
                <a:latin typeface="Segoe UI"/>
              </a:defRPr>
            </a:pPr>
            <a:r>
              <a:t>[charts/]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• 12 high-resolution PNG plots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• Season, crop &amp; irrigation charts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• Correlation matrix heatmap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• Official course certificate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88552" y="2514600"/>
            <a:ext cx="2468880" cy="36118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sz="1500" b="1">
                <a:solidFill>
                  <a:srgbClr val="1B365D"/>
                </a:solidFill>
                <a:latin typeface="Segoe UI"/>
              </a:defRPr>
            </a:pPr>
            <a:r>
              <a:t>Documentation</a:t>
            </a:r>
          </a:p>
          <a:p>
            <a:pPr>
              <a:spcAft>
                <a:spcPts val="1000"/>
              </a:spcAft>
              <a:defRPr sz="1100" b="1">
                <a:solidFill>
                  <a:srgbClr val="475569"/>
                </a:solidFill>
                <a:latin typeface="Segoe UI"/>
              </a:defRPr>
            </a:pPr>
            <a:r>
              <a:t>[.md]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• Comprehensive README.md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• Final Verification Report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• Technical verification audit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  <a:latin typeface="Segoe UI"/>
              </a:defRPr>
            </a:pPr>
            <a:r>
              <a:t>• AICTE/VOIS alignment audit</a:t>
            </a: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0" y="0"/>
            <a:ext cx="12191999" cy="7315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   VOIS Course Completion Certificate — Data Visualization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804672"/>
            <a:ext cx="107286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B365D"/>
                </a:solidFill>
                <a:latin typeface="Segoe UI"/>
              </a:defRPr>
            </a:pPr>
            <a:r>
              <a:t>Course: Data Visualization   |   Recipient: Krishna Kumar   |   Certificate ID: VFLMS26_163451   |   Issued: September 6, 2026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8024" y="1261872"/>
            <a:ext cx="7242048" cy="512064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475569"/>
                </a:solidFill>
                <a:latin typeface="Segoe UI"/>
              </a:defRPr>
            </a:pPr>
            <a:r>
              <a:t>Verified VOIS For Tech &amp; Edunet Foundation LMS Credential   |   Directly Applicable to AICTE Internship Submission</a:t>
            </a:r>
          </a:p>
        </p:txBody>
      </p:sp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/>
          <p:cNvSpPr/>
          <p:nvPr/>
        </p:nvSpPr>
        <p:spPr>
          <a:xfrm>
            <a:off x="0" y="0"/>
            <a:ext cx="12191999" cy="1371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828800" y="1097280"/>
            <a:ext cx="8534095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3600" b="1">
                <a:solidFill>
                  <a:srgbClr val="1B365D"/>
                </a:solidFill>
                <a:latin typeface="Segoe UI"/>
              </a:defRPr>
            </a:pPr>
            <a:r>
              <a:t>Thank You</a:t>
            </a:r>
          </a:p>
          <a:p>
            <a:pPr algn="ctr">
              <a:spcAft>
                <a:spcPts val="2000"/>
              </a:spcAft>
              <a:defRPr sz="1800">
                <a:solidFill>
                  <a:srgbClr val="475569"/>
                </a:solidFill>
                <a:latin typeface="Segoe UI"/>
              </a:defRPr>
            </a:pPr>
            <a:r>
              <a:t>Questions &amp; Discussion</a:t>
            </a:r>
          </a:p>
          <a:p>
            <a:pPr algn="ctr"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475569"/>
                </a:solidFill>
              </a:rPr>
              <a:t>Project: </a:t>
            </a:r>
            <a:r>
              <a:rPr b="1">
                <a:solidFill>
                  <a:srgbClr val="1E293B"/>
                </a:solidFill>
              </a:rPr>
              <a:t>Seasonal Agriculture Performance Analysis</a:t>
            </a:r>
          </a:p>
          <a:p>
            <a:pPr algn="ctr"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475569"/>
                </a:solidFill>
              </a:rPr>
              <a:t>Internship: </a:t>
            </a:r>
            <a:r>
              <a:rPr b="0">
                <a:solidFill>
                  <a:srgbClr val="1E293B"/>
                </a:solidFill>
              </a:rPr>
              <a:t>VOIS For Tech / AICTE Data Analytics Internship (Batch 2026–2027)</a:t>
            </a:r>
          </a:p>
          <a:p>
            <a:pPr algn="ctr"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475569"/>
                </a:solidFill>
              </a:rPr>
              <a:t>Student: </a:t>
            </a:r>
            <a:r>
              <a:rPr b="1">
                <a:solidFill>
                  <a:srgbClr val="1E293B"/>
                </a:solidFill>
              </a:rPr>
              <a:t>Krishna Kumar  |  AICTE STU ID: STU6a252b77248381780820855</a:t>
            </a:r>
          </a:p>
          <a:p>
            <a:pPr algn="ctr"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475569"/>
                </a:solidFill>
              </a:rPr>
              <a:t>Institution: </a:t>
            </a:r>
            <a:r>
              <a:rPr b="0">
                <a:solidFill>
                  <a:srgbClr val="1E293B"/>
                </a:solidFill>
              </a:rPr>
              <a:t>Ambalika Institute of Management and Technology, Lucknow</a:t>
            </a:r>
          </a:p>
          <a:p>
            <a:pPr algn="ctr">
              <a:spcAft>
                <a:spcPts val="400"/>
              </a:spcAft>
              <a:defRPr sz="1300">
                <a:latin typeface="Segoe UI"/>
              </a:defRPr>
            </a:pPr>
            <a:r>
              <a:rPr b="1">
                <a:solidFill>
                  <a:srgbClr val="475569"/>
                </a:solidFill>
              </a:rPr>
              <a:t>Repository: </a:t>
            </a:r>
            <a:r>
              <a:rPr b="1">
                <a:solidFill>
                  <a:srgbClr val="1D4ED8"/>
                </a:solidFill>
              </a:rPr>
              <a:t>https://github.com/krishna3163/Seasonal-Agriculture-Performance-Analysis</a:t>
            </a:r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556</TotalTime>
  <Words>71</Words>
  <Application>Microsoft Office PowerPoint</Application>
  <PresentationFormat>Widescreen</PresentationFormat>
  <Paragraphs>18</Paragraphs>
  <Slides>14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Facet</vt:lpstr>
      <vt:lpstr>Project Title -</vt:lpstr>
      <vt:lpstr>PROBLEM  STATEMENT</vt:lpstr>
      <vt:lpstr>Project Description [write detail description about your project ] 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Aswini Kumar Motapothula</cp:lastModifiedBy>
  <cp:revision>97</cp:revision>
  <dcterms:created xsi:type="dcterms:W3CDTF">2021-07-11T13:13:15Z</dcterms:created>
  <dcterms:modified xsi:type="dcterms:W3CDTF">2026-09-02T10:35:59Z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